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61" r:id="rId6"/>
    <p:sldId id="280" r:id="rId7"/>
    <p:sldId id="271" r:id="rId8"/>
    <p:sldId id="266" r:id="rId9"/>
    <p:sldId id="281" r:id="rId10"/>
    <p:sldId id="284" r:id="rId11"/>
    <p:sldId id="285" r:id="rId12"/>
    <p:sldId id="286" r:id="rId13"/>
    <p:sldId id="282" r:id="rId14"/>
    <p:sldId id="287" r:id="rId15"/>
    <p:sldId id="273" r:id="rId16"/>
    <p:sldId id="265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E8DC5-FB0B-462C-BCA8-C283B061605B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661B-6E59-4BE7-B773-209E3C94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0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6EC7-DBD8-4B49-BA87-C38B83F36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94259-31C3-4140-9E61-147F0DCFF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60966-FF8C-4FBA-BDA4-2815FECE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BB11-ADA3-499B-9413-EF7C4B8A66D7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8AC2-4F2D-463E-AD06-362FC83C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8EFC5-0106-40BD-A2CC-A52BEB86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4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6936-E08A-47F2-B911-18C13000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36505-182A-435F-A3FC-5C702E42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4FE29-5D49-4722-A5F4-23701876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567C-FDB2-4AF2-A1DD-5E086F63AE0A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32253-16FC-43F0-AA69-5E54A0B5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B11C-0B27-4773-9AAD-1BEE0B0D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0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455E-CC4F-49FD-A534-70069ED0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C9611-C34E-4C8E-B443-FB8CC5527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07254-0624-403F-B7D7-11A6E3FE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C64F-6CE5-4839-AB7E-FFE1E4105554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2DC51-42F4-464D-A062-67EB094A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9952-66FD-4383-A34B-EC42396C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5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B4E5-6640-42CD-960A-FF30C8A7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2C250-041D-4AA2-9108-0D53AE3B5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71376-E884-40D1-82B9-AC9C096EF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C7A51-9DCB-455D-A97D-51DF619C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CE04-B112-4872-9D29-4C77539D0467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B1A84-9327-45C5-A0D5-9D383B53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30FE0-9CD2-4B45-A6E5-C8ED7CF5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4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5802-BBF6-4B8E-A07C-37A18E95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333AE-7F1C-45DD-9CE6-8E36BB87E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28342-F503-40A4-9043-B10265E7B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27512-E4CD-4FB8-946A-9D0DBF4DC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683D4-0CD5-4EA1-9CF4-CCE0C1597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08352C-7671-4015-85F6-7CA78A0E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A17F-9260-43CF-AA22-36333B103DE3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D3A4D-5C91-4449-8737-B8B6CAA8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F54DB-B000-4920-A8F2-ECA6B52A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8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9D65-F6D3-484F-9591-CE304D3D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906B6-CC70-476A-B464-2830E11A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10A5-FC85-4427-B6D7-AD452DB641F0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0854F-26CD-4A5D-8AAA-353782E2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2FE8C-7900-494A-A424-148CCE97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DCF1F-3DAC-4F23-8B0B-753AED03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AE0EA-86A4-45E9-8621-6AC35E333448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AEF62-7E72-40C4-8092-AE2A0FE1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583D6-4283-4545-BE46-E1DF8CF6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B696-AD78-4FF8-99A2-DE5DB0D2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2C071-1259-4465-9919-9197D2291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AB1AA-97C2-4B3A-B07A-CE0F0F1DE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20982-22D0-4B56-BF16-2E7A8F8D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C67E-60BB-43F4-BA70-62BCBC6F99FB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B735B-269A-40DC-B5DF-2B8D4308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29FD3-F97F-4F76-B38F-B3F77FAE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3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7BF03-359B-4758-8791-0D06CB3F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F02E1-3188-4920-A288-5E2C33A7A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04F32-DE4C-4ADB-8985-6EFDCA225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70CC5-4BF3-4A8B-8F0A-F245927F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CF8D-E693-4751-BEB0-5F7777B61E54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9B316-6374-46A0-A17E-7B28E4D8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4E1AB-19DB-4FE8-A2BC-C6FD300C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6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22E0-4F70-40E9-A5B5-630FBD29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5500C-C745-4627-9441-29081717A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7B3C5-707E-4006-9DFC-BA5F1610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30194-6728-4D1B-83A3-0B4BE10CE2B6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59DA6-7068-48C0-AAE2-051AE820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6FAC1-2559-4B4B-9C40-4BDB7C91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6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6CA91-9B22-4140-BC9D-4408E7BB0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5F0AF-BE0B-4196-8343-8CAB8C2E6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6F5F-365F-4F58-86A0-E4F3521B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1282-3B78-4B9B-81BE-52995E7D73AC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47BD2-8A11-4F28-BD79-776D7EA23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619ED-A161-4AB5-B8D2-8203E7C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2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589BF-DDF5-4D67-9445-64030D1B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8F738-CEBF-4394-A098-35CCE8A90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33ACD-1344-4E17-8B20-9AF0332D9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C6652-1E2D-46E4-822D-1E2E8E118E8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207AF-15E9-4696-ABFF-2EC7C257F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39F72-A244-4C39-82FF-1D6ACBD90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D5A8B-E2D7-46AC-8041-C80037579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4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4BB8-93BE-4FDF-BE38-BA9E367DC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130" y="2574344"/>
            <a:ext cx="10039740" cy="11079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Low-Cost Real-Time Bioelectrical Signal Acquisition Module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F5E80-E100-435A-85FD-235136889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026" y="3980529"/>
            <a:ext cx="11253938" cy="207334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Md. Shah Kamal, Erteza Tawsif Efaz, Md. Fakhrul Alam, </a:t>
            </a:r>
          </a:p>
          <a:p>
            <a:r>
              <a:rPr lang="en-US" sz="20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Md. Masud Rana, Syed Nazmus Sakib, Shekh M. M.  Islam.</a:t>
            </a:r>
          </a:p>
          <a:p>
            <a:endParaRPr lang="en-US" sz="1050" b="1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700" i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Department of Electrical &amp; Electronic Engineering, University of Dhaka</a:t>
            </a:r>
            <a:r>
              <a:rPr lang="en-US" sz="1700" i="1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lang="en-US" sz="1700" i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Department of Electrical &amp; Electronic Engineering, Ahsanullah University of Science &amp; Technology</a:t>
            </a:r>
            <a:r>
              <a:rPr lang="en-US" sz="1700" i="1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 </a:t>
            </a:r>
            <a:r>
              <a:rPr lang="en-US" sz="1700" i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Department of Electrical, Electronic &amp; Communication Engineering, Military Institute of Science &amp; Technology, Daffodil International University, Dhaka</a:t>
            </a:r>
            <a:endParaRPr lang="en-US" sz="22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9177E-165B-474A-ADA8-D713ACE0E380}"/>
              </a:ext>
            </a:extLst>
          </p:cNvPr>
          <p:cNvSpPr txBox="1"/>
          <p:nvPr/>
        </p:nvSpPr>
        <p:spPr>
          <a:xfrm>
            <a:off x="1934674" y="514208"/>
            <a:ext cx="87392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 2nd International Conference on Sustainable Technologies</a:t>
            </a:r>
          </a:p>
          <a:p>
            <a:pPr algn="ctr"/>
            <a:r>
              <a:rPr 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Industry 4.0 (STI), 19-20 December, Dhaka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A4F88-3A5D-4AFD-A0F5-9D62263B6A1C}"/>
              </a:ext>
            </a:extLst>
          </p:cNvPr>
          <p:cNvSpPr txBox="1"/>
          <p:nvPr/>
        </p:nvSpPr>
        <p:spPr>
          <a:xfrm>
            <a:off x="4967284" y="1939584"/>
            <a:ext cx="2357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ID- 243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BF4BCC-0B5D-4041-8B57-A4C33D117C8B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F2D984-1466-2F72-1C3A-F8F5738F3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54" y="527479"/>
            <a:ext cx="1412105" cy="14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8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4DDB-A063-4C82-845F-5838A8CC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40" y="278296"/>
            <a:ext cx="11549270" cy="86139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Bioelectrical Signals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9E91-25AE-49D3-A0A2-B37683902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50" y="1152330"/>
            <a:ext cx="11022699" cy="45533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change in electric current produced by the sum of an electrical potential difference across a specialized tissue, organ or cell system like the nervous system.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best-known bioelectrical signals are:</a:t>
            </a:r>
          </a:p>
          <a:p>
            <a:pPr lvl="3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Electroencephalogram (EEG)- [100 µV-2 mV, 1-50 Hz]</a:t>
            </a:r>
          </a:p>
          <a:p>
            <a:pPr lvl="3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Electrocardiogram (ECG)- [1mV- 5mV, 0.5-20Hz]</a:t>
            </a:r>
          </a:p>
          <a:p>
            <a:pPr lvl="3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Electromyogram (EMG)- [0V-10 mV, 0-500 Hz]</a:t>
            </a:r>
          </a:p>
          <a:p>
            <a:pPr lvl="3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Electrooculography (EOG)- [50 µV- 3500µV, 0-100 Hz]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6C46B-1D8B-41CD-8410-8BD0BA0D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0ABC-06C7-4C91-A3FE-0783121B0FC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1725F-4684-476F-9AB9-5C6A9C80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9EDDD-27ED-4391-9AF8-D72ACA92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E650B0-BEEA-4D42-B485-8614A2BDDC8F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0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C153-60C1-4C17-8ADF-9D4E0CCD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78297"/>
            <a:ext cx="11582399" cy="974034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Importance of Acquisition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C862-9D4E-4D01-B5EC-AFB1621BD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4987"/>
            <a:ext cx="7437148" cy="3631096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Diagnosis 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Monitoring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Machine Interfacing (HMI)  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Biomedical Research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42F90-ECCE-4078-8EC3-9E642157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CF6A-4185-4D13-894D-F1541180269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9058F-22CD-43D5-8CC0-78D172EF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1F50A-579B-402B-A7EA-8B148B7D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D842A8-74E0-4A53-A3C0-ACA1DED95234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3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71" y="278295"/>
            <a:ext cx="11582399" cy="75748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Motivation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493116"/>
            <a:ext cx="109381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59D245-1E62-46EF-ABA3-85C50AE7A861}"/>
              </a:ext>
            </a:extLst>
          </p:cNvPr>
          <p:cNvGrpSpPr/>
          <p:nvPr/>
        </p:nvGrpSpPr>
        <p:grpSpPr>
          <a:xfrm>
            <a:off x="6798927" y="1054608"/>
            <a:ext cx="4455220" cy="3392139"/>
            <a:chOff x="5649587" y="1246447"/>
            <a:chExt cx="6552599" cy="494233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0497" y="4283973"/>
              <a:ext cx="3879669" cy="190481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7743" y="1288155"/>
              <a:ext cx="3174443" cy="249500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1" r="31229"/>
            <a:stretch/>
          </p:blipFill>
          <p:spPr>
            <a:xfrm>
              <a:off x="5649587" y="1246447"/>
              <a:ext cx="2832028" cy="2847702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487905" y="1140955"/>
            <a:ext cx="623875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Devices and Kits- MySignal, Attys, Backyard Brain Spiker Kit etc.</a:t>
            </a: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Biosignals Can Measure in Single Device</a:t>
            </a: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features of Signal Acquisition</a:t>
            </a: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and Cloud Storage Facilities</a:t>
            </a: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Apps for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6503902" y="4718783"/>
            <a:ext cx="518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Devices and Kits.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6FAEDCE-6E2B-49D3-A0F4-67E1F5D0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519C9-78ED-4ED9-A5B9-40B847ED0742}" type="datetime1">
              <a:rPr lang="en-US" smtClean="0"/>
              <a:t>1/11/2026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02F42FB-9464-4B3D-80FC-243B9ED4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378F5C4-8B3F-4371-A1CF-0BA8F4FF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4</a:t>
            </a:fld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83BE0E-C287-4C5D-8929-14072BA055F5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0CC1-3AE5-4506-9070-50E07D10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278296"/>
            <a:ext cx="11582399" cy="74212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C3E5C-91CD-4BCE-AC3A-81C81776E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10" y="1313217"/>
            <a:ext cx="10028583" cy="2460169"/>
          </a:xfrm>
        </p:spPr>
        <p:txBody>
          <a:bodyPr>
            <a:normAutofit lnSpcReduction="10000"/>
          </a:bodyPr>
          <a:lstStyle/>
          <a:p>
            <a:pPr marR="0" lvl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q"/>
              <a:tabLst>
                <a:tab pos="182880" algn="l"/>
              </a:tabLst>
            </a:pP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x-none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Development of an acquisition system for ECG, EMG, and EOG 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R="0" lvl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q"/>
              <a:tabLst>
                <a:tab pos="182880" algn="l"/>
              </a:tabLst>
            </a:pPr>
            <a:r>
              <a:rPr lang="en-US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x-none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Algorithm development for Analog-to-Digital Conversion (ADC).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R="0" lvl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q"/>
              <a:tabLst>
                <a:tab pos="182880" algn="l"/>
              </a:tabLst>
            </a:pP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x-none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Establishing a Simulink model for digital filtration.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R="0" lvl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q"/>
              <a:tabLst>
                <a:tab pos="182880" algn="l"/>
              </a:tabLst>
            </a:pP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x-none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Executing a MATLAB program for spectrum analysis.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R="0" lvl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q"/>
              <a:tabLst>
                <a:tab pos="182880" algn="l"/>
              </a:tabLst>
            </a:pPr>
            <a:r>
              <a:rPr lang="en-US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x-none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Testing the module performance for different subjects.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8D51A-DE14-4A82-A222-5701DF27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3C7E-77DD-4B03-9446-F15838C559F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233EE-A1C3-4CFE-A647-92B35314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0541C-532E-4736-B71F-A1FB5D87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4A8113-0CF0-4980-B800-C13C77487BE9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5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278295"/>
            <a:ext cx="11582400" cy="77262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EB9DC-2B40-4F23-AED9-FDAFC9B079A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382" y="664609"/>
            <a:ext cx="5041911" cy="495716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D65EB4-2369-4A2E-B47D-185FBBA74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7945-A4F7-43C4-8CD5-4DE4E9C9CF97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FE8D46-5486-461F-B9D4-F9B5F137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1B4CB98-9ED3-488D-9084-CA588670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6</a:t>
            </a:fld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38FCE4-39DB-417E-8C8A-D3BE9F4E82AE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0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C36ED8-6A35-4AA9-B0CC-C09F67B0D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539" y="291776"/>
            <a:ext cx="11582400" cy="693979"/>
          </a:xfrm>
        </p:spPr>
        <p:txBody>
          <a:bodyPr numCol="1"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Schematics &amp; Prototype</a:t>
            </a:r>
          </a:p>
          <a:p>
            <a:pPr algn="l"/>
            <a:endParaRPr lang="en-US" sz="3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15" y="1332411"/>
            <a:ext cx="5183778" cy="41552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609745" y="5656046"/>
            <a:ext cx="518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6398478" y="5656046"/>
            <a:ext cx="518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A036DF-EBFB-486D-8314-60B7E6A628F2}"/>
              </a:ext>
            </a:extLst>
          </p:cNvPr>
          <p:cNvGrpSpPr>
            <a:extLst>
              <a:ext uri="{F59B8463-F414-42e2-B3A4-FFEF48DC7170}">
                <a15:nonVisualGroupProps xmlns:a15="http://schemas.microsoft.com/office/drawing/2012/main" isLegacyGroup="0"/>
              </a:ext>
            </a:extLst>
          </p:cNvGrpSpPr>
          <p:nvPr/>
        </p:nvGrpSpPr>
        <p:grpSpPr>
          <a:xfrm>
            <a:off x="6446046" y="1546187"/>
            <a:ext cx="5206449" cy="3765626"/>
            <a:chOff x="0" y="0"/>
            <a:chExt cx="3177037" cy="156374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96A370-1FBB-4524-8A40-52AA23C790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84" r="27559"/>
            <a:stretch/>
          </p:blipFill>
          <p:spPr bwMode="auto">
            <a:xfrm>
              <a:off x="0" y="0"/>
              <a:ext cx="1552575" cy="156273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3C3BFB3-F64B-461B-A4C2-7AE56695D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95" t="7672" r="26941"/>
            <a:stretch/>
          </p:blipFill>
          <p:spPr bwMode="auto">
            <a:xfrm>
              <a:off x="1595887" y="8626"/>
              <a:ext cx="1581150" cy="155511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EC214A5-6403-44A9-B33F-37F8CC4F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6562-8D84-4A32-A52C-56D6A8F42D4A}" type="datetime1">
              <a:rPr lang="en-US" smtClean="0"/>
              <a:t>1/11/2026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76388D1-E4EB-4F5F-9E30-A096FE84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0485708-D05A-4A4D-8D37-F7A91E2D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7</a:t>
            </a:fld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FD7685-EEA6-4119-BE5C-35D3C3936067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6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7915BF-5C73-47E8-875E-3A9903265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539" y="403550"/>
            <a:ext cx="11582400" cy="87464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Placement of Electrodes</a:t>
            </a:r>
          </a:p>
          <a:p>
            <a:pPr algn="l"/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1786423" y="5799614"/>
            <a:ext cx="861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4: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of Electrodes for EMG, ECG and EOG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D787B-5629-42B6-9DFC-8BC6DE9F7CE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77" y="1498000"/>
            <a:ext cx="8788245" cy="38620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60B46C-EBA1-4979-8829-27C5470E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7AED-0966-4775-B198-A1A744D85C22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7B55D4-A942-4336-82FA-B910B907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AD35F8-5D62-40A5-9D3E-C8221569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8</a:t>
            </a:fld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4AE152-33FD-4465-88E0-DC07D78F64F3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5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238539" y="2782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1786424" y="6118889"/>
            <a:ext cx="861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5: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ECG signal (a) Noisy, (b) Filtered.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41DE0-D7CF-4975-BE70-8DC59BAFD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28750"/>
            <a:ext cx="5334000" cy="4000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587558-776D-471C-A11E-8E762A63A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8750"/>
            <a:ext cx="5334000" cy="4000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8BB5E1-81F5-4E5F-B6A3-B4FA73FC5EA8}"/>
              </a:ext>
            </a:extLst>
          </p:cNvPr>
          <p:cNvSpPr txBox="1"/>
          <p:nvPr/>
        </p:nvSpPr>
        <p:spPr>
          <a:xfrm>
            <a:off x="3210831" y="545848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EE678-277D-4482-830F-56C719CF2FDF}"/>
              </a:ext>
            </a:extLst>
          </p:cNvPr>
          <p:cNvSpPr txBox="1"/>
          <p:nvPr/>
        </p:nvSpPr>
        <p:spPr>
          <a:xfrm>
            <a:off x="8544831" y="546818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BD324CA-2217-4968-8480-956A53B6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23977-FEE2-4D1D-8676-BA1C2D371053}" type="datetime1">
              <a:rPr lang="en-US" smtClean="0"/>
              <a:t>1/11/2026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C898B0A-D64F-4D72-92D8-52943ED1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014EFCB-4BB2-4440-AEAC-54899C90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9</a:t>
            </a:fld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586AF4-7C24-4986-9E69-9CA82F68B250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4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1720163" y="5799706"/>
            <a:ext cx="861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6: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EMG signal (a) Noisy, (b) Filtered.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BB5E1-81F5-4E5F-B6A3-B4FA73FC5EA8}"/>
              </a:ext>
            </a:extLst>
          </p:cNvPr>
          <p:cNvSpPr txBox="1"/>
          <p:nvPr/>
        </p:nvSpPr>
        <p:spPr>
          <a:xfrm>
            <a:off x="3210831" y="545848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EE678-277D-4482-830F-56C719CF2FDF}"/>
              </a:ext>
            </a:extLst>
          </p:cNvPr>
          <p:cNvSpPr txBox="1"/>
          <p:nvPr/>
        </p:nvSpPr>
        <p:spPr>
          <a:xfrm>
            <a:off x="8544831" y="546818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2B456-2FD0-4AD4-A356-260B84F55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31" y="1428750"/>
            <a:ext cx="5334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DA6132-40DE-4B73-AD71-571A2686B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389" y="1428750"/>
            <a:ext cx="5334000" cy="40005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3F3E8F-7F20-4EFA-AC2C-2F8BDB1F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CC9-6B3A-48DD-B664-7C238A4CA9DE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0EC2C4-4A58-48CA-B3AE-E1600D71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2020 2nd International Conference on Sustainable Technologies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C12919-20B5-46FD-A226-915785E3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10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2E4FAAB-3421-4FF0-B2B9-2B80B9125627}"/>
              </a:ext>
            </a:extLst>
          </p:cNvPr>
          <p:cNvSpPr txBox="1">
            <a:spLocks/>
          </p:cNvSpPr>
          <p:nvPr/>
        </p:nvSpPr>
        <p:spPr>
          <a:xfrm>
            <a:off x="238539" y="2782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B6AD931-D172-44AE-BEBA-B71F87E4F41B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7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1786424" y="5799706"/>
            <a:ext cx="861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7: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EOG signal (horizontal movement) (a) Noisy, (b) Filtered.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BB5E1-81F5-4E5F-B6A3-B4FA73FC5EA8}"/>
              </a:ext>
            </a:extLst>
          </p:cNvPr>
          <p:cNvSpPr txBox="1"/>
          <p:nvPr/>
        </p:nvSpPr>
        <p:spPr>
          <a:xfrm>
            <a:off x="3210831" y="545848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EE678-277D-4482-830F-56C719CF2FDF}"/>
              </a:ext>
            </a:extLst>
          </p:cNvPr>
          <p:cNvSpPr txBox="1"/>
          <p:nvPr/>
        </p:nvSpPr>
        <p:spPr>
          <a:xfrm>
            <a:off x="8544831" y="546818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E2702-810D-4476-B49E-67B4C146E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69" y="1336417"/>
            <a:ext cx="5334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2D0A6A-D192-4BB2-8E16-3AA504122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389" y="1428750"/>
            <a:ext cx="5334000" cy="40005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057320-1AB0-4FD4-844C-22B0F251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CB3A-3F0F-4F7A-8A50-E48F9D20CB5F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23D209-F3F5-4042-9645-AD116B26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72E673-BA64-4B76-9A27-9B8EC979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11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370D10F-A262-4132-B127-2F3561F012D9}"/>
              </a:ext>
            </a:extLst>
          </p:cNvPr>
          <p:cNvSpPr txBox="1">
            <a:spLocks/>
          </p:cNvSpPr>
          <p:nvPr/>
        </p:nvSpPr>
        <p:spPr>
          <a:xfrm>
            <a:off x="238539" y="2782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348264-EA7D-4FCB-9ACE-D9B4652B50AF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3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5C284A4-83E0-406B-9EA3-126D0401FB47}"/>
              </a:ext>
            </a:extLst>
          </p:cNvPr>
          <p:cNvSpPr txBox="1"/>
          <p:nvPr/>
        </p:nvSpPr>
        <p:spPr>
          <a:xfrm>
            <a:off x="1892441" y="5799706"/>
            <a:ext cx="861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8: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EOG signal (vertical movement) (a) Noisy, (b) Filtered.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BB5E1-81F5-4E5F-B6A3-B4FA73FC5EA8}"/>
              </a:ext>
            </a:extLst>
          </p:cNvPr>
          <p:cNvSpPr txBox="1"/>
          <p:nvPr/>
        </p:nvSpPr>
        <p:spPr>
          <a:xfrm>
            <a:off x="3210831" y="545848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EE678-277D-4482-830F-56C719CF2FDF}"/>
              </a:ext>
            </a:extLst>
          </p:cNvPr>
          <p:cNvSpPr txBox="1"/>
          <p:nvPr/>
        </p:nvSpPr>
        <p:spPr>
          <a:xfrm>
            <a:off x="8544831" y="546818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FB06B-0425-45DD-8D6A-FE74B146A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31" y="1428750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197AEC-4FE4-4414-A1BC-26F611DEE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610" y="1428750"/>
            <a:ext cx="5334000" cy="40005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D0EF00-E0B7-4704-82E6-F5B374EF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4380-387E-4E2D-A8C9-59383C5F9E92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6A51B54-C2A7-4D54-A47B-DFF1A683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381D22B-11E6-41D8-936A-0319562D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12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EE14CF9-1108-430D-A290-F15C5A328085}"/>
              </a:ext>
            </a:extLst>
          </p:cNvPr>
          <p:cNvSpPr txBox="1">
            <a:spLocks/>
          </p:cNvSpPr>
          <p:nvPr/>
        </p:nvSpPr>
        <p:spPr>
          <a:xfrm>
            <a:off x="238539" y="2782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E2AAD7-B8C4-43F6-92B2-1B89F14068AF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3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2FB7FD0-F4F4-4DF5-AF1F-F76E1B22B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77049"/>
              </p:ext>
            </p:extLst>
          </p:nvPr>
        </p:nvGraphicFramePr>
        <p:xfrm>
          <a:off x="1290733" y="1503314"/>
          <a:ext cx="9887338" cy="438538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76341">
                  <a:extLst>
                    <a:ext uri="{9D8B030D-6E8A-4147-A177-3AD203B41FA5}">
                      <a16:colId xmlns:a16="http://schemas.microsoft.com/office/drawing/2014/main" val="911411844"/>
                    </a:ext>
                  </a:extLst>
                </a:gridCol>
                <a:gridCol w="2867328">
                  <a:extLst>
                    <a:ext uri="{9D8B030D-6E8A-4147-A177-3AD203B41FA5}">
                      <a16:colId xmlns:a16="http://schemas.microsoft.com/office/drawing/2014/main" val="4229714127"/>
                    </a:ext>
                  </a:extLst>
                </a:gridCol>
                <a:gridCol w="2867328">
                  <a:extLst>
                    <a:ext uri="{9D8B030D-6E8A-4147-A177-3AD203B41FA5}">
                      <a16:colId xmlns:a16="http://schemas.microsoft.com/office/drawing/2014/main" val="1589723722"/>
                    </a:ext>
                  </a:extLst>
                </a:gridCol>
                <a:gridCol w="2076341">
                  <a:extLst>
                    <a:ext uri="{9D8B030D-6E8A-4147-A177-3AD203B41FA5}">
                      <a16:colId xmlns:a16="http://schemas.microsoft.com/office/drawing/2014/main" val="3187605116"/>
                    </a:ext>
                  </a:extLst>
                </a:gridCol>
              </a:tblGrid>
              <a:tr h="6264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Type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of Subjects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Range (Hz)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Range (mV)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2532792237"/>
                  </a:ext>
                </a:extLst>
              </a:tr>
              <a:tr h="313242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ECG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2.50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3259272939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3.12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4051103519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3.18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684967422"/>
                  </a:ext>
                </a:extLst>
              </a:tr>
              <a:tr h="313242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EMG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130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2.10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1939683101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140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2.00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147934855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140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2.15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979288588"/>
                  </a:ext>
                </a:extLst>
              </a:tr>
              <a:tr h="313242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EOG (Horizontal)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0.15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3330800112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35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0.18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3606942453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40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0.20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2990319196"/>
                  </a:ext>
                </a:extLst>
              </a:tr>
              <a:tr h="313242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EOG (Vertical)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40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1.50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2510938223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42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1.50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2377258679"/>
                  </a:ext>
                </a:extLst>
              </a:tr>
              <a:tr h="313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45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~ 1.80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9206273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26BF5C-A095-4C27-9B21-53A41724CF68}"/>
              </a:ext>
            </a:extLst>
          </p:cNvPr>
          <p:cNvSpPr txBox="1"/>
          <p:nvPr/>
        </p:nvSpPr>
        <p:spPr>
          <a:xfrm>
            <a:off x="3187957" y="988857"/>
            <a:ext cx="6092890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182880" algn="ctr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tabLst>
                <a:tab pos="182880" algn="l"/>
              </a:tabLst>
            </a:pPr>
            <a:r>
              <a:rPr lang="en-GB" sz="2800" b="1" spc="-5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Table 1. </a:t>
            </a:r>
            <a:r>
              <a:rPr lang="en-GB" sz="2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Signal analysis data of tests</a:t>
            </a:r>
            <a:r>
              <a:rPr lang="en-GB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en-US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2E49675-4CA9-429D-A2D6-62B9AEA6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BEB2-CD65-4CF2-9B9C-B6151664D9FC}" type="datetime1">
              <a:rPr lang="en-US" smtClean="0"/>
              <a:t>1/11/2026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782865-AC11-402B-A2FE-8A0D6C2D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164837F-5825-422E-AC8A-401F8831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13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EFBF5CD-9FD7-4459-A183-3C2A5160113A}"/>
              </a:ext>
            </a:extLst>
          </p:cNvPr>
          <p:cNvSpPr txBox="1">
            <a:spLocks/>
          </p:cNvSpPr>
          <p:nvPr/>
        </p:nvSpPr>
        <p:spPr>
          <a:xfrm>
            <a:off x="238539" y="2782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39760E-8794-43EE-9873-6DD7BC2339CA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37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D26BF5C-A095-4C27-9B21-53A41724CF68}"/>
              </a:ext>
            </a:extLst>
          </p:cNvPr>
          <p:cNvSpPr txBox="1"/>
          <p:nvPr/>
        </p:nvSpPr>
        <p:spPr>
          <a:xfrm>
            <a:off x="2679439" y="886843"/>
            <a:ext cx="6833121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182880" algn="ctr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tabLst>
                <a:tab pos="182880" algn="l"/>
              </a:tabLst>
            </a:pPr>
            <a:r>
              <a:rPr lang="en-US" sz="2800" b="1" spc="-5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Table 2. The material cost of the method.</a:t>
            </a:r>
            <a:endParaRPr lang="en-US" sz="18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076C2C-21D0-4C63-81A7-A87F205E6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46433"/>
              </p:ext>
            </p:extLst>
          </p:nvPr>
        </p:nvGraphicFramePr>
        <p:xfrm>
          <a:off x="838200" y="1630828"/>
          <a:ext cx="10515600" cy="4130361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4376058">
                  <a:extLst>
                    <a:ext uri="{9D8B030D-6E8A-4147-A177-3AD203B41FA5}">
                      <a16:colId xmlns:a16="http://schemas.microsoft.com/office/drawing/2014/main" val="465919125"/>
                    </a:ext>
                  </a:extLst>
                </a:gridCol>
                <a:gridCol w="2236845">
                  <a:extLst>
                    <a:ext uri="{9D8B030D-6E8A-4147-A177-3AD203B41FA5}">
                      <a16:colId xmlns:a16="http://schemas.microsoft.com/office/drawing/2014/main" val="2624281940"/>
                    </a:ext>
                  </a:extLst>
                </a:gridCol>
                <a:gridCol w="1734532">
                  <a:extLst>
                    <a:ext uri="{9D8B030D-6E8A-4147-A177-3AD203B41FA5}">
                      <a16:colId xmlns:a16="http://schemas.microsoft.com/office/drawing/2014/main" val="1504089249"/>
                    </a:ext>
                  </a:extLst>
                </a:gridCol>
                <a:gridCol w="2168165">
                  <a:extLst>
                    <a:ext uri="{9D8B030D-6E8A-4147-A177-3AD203B41FA5}">
                      <a16:colId xmlns:a16="http://schemas.microsoft.com/office/drawing/2014/main" val="3033046599"/>
                    </a:ext>
                  </a:extLst>
                </a:gridCol>
              </a:tblGrid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Specified Component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Quantity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Price (US$)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Aggregated (US$)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263372229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Arduino Uno (R3)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5.66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5.66 [22]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1654634641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Instrument. Amplifier (AD620)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5.49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5.49 [23]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3644189200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Voltage Regulator (LM7805)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0.24 [24]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1529721343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Rechargeable Batteries (9V)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3.24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6.48 [25]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3400612401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Electrodes (Bio Protech T716)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0.09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0.27 [11]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4085139508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Resistors (10MΩ and 560Ω)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0.04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0.12 [26, 27]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1792830489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Capacitors (1µF)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0.02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0.06 [28]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1492350733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Breadboard (mini)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0.06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0.60 [29]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4152436157"/>
                  </a:ext>
                </a:extLst>
              </a:tr>
              <a:tr h="7199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Others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clips, wires, holders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estimated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565765195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-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-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24.19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890" marR="8890" marT="0" marB="0" anchor="ctr"/>
                </a:tc>
                <a:extLst>
                  <a:ext uri="{0D108BD9-81ED-4DB2-BD59-A6C34878D82A}">
                    <a16:rowId xmlns:a16="http://schemas.microsoft.com/office/drawing/2014/main" val="2593379335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9D886F-925A-4698-BA63-3EE3709F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7AA6-11B0-40E5-9713-829C1E2699AD}" type="datetime1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E73C9D-C4D0-4FD5-AC6B-42F8B9DB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7F7A3-ABC0-46C1-88E6-B0CF80B4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14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D9EC253-3056-4E9E-92A3-4A2BDC80EDDB}"/>
              </a:ext>
            </a:extLst>
          </p:cNvPr>
          <p:cNvSpPr txBox="1">
            <a:spLocks/>
          </p:cNvSpPr>
          <p:nvPr/>
        </p:nvSpPr>
        <p:spPr>
          <a:xfrm>
            <a:off x="238539" y="2782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CABCE3-AC50-4AC2-AA31-34EC58889516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70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790F-F215-45EB-8C8A-9A5D1BB2F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99" y="1166665"/>
            <a:ext cx="10341029" cy="4524670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noise in acquainted signal. This noise due to-</a:t>
            </a:r>
          </a:p>
          <a:p>
            <a:pPr lvl="0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 Hz  noise in line voltage</a:t>
            </a:r>
          </a:p>
          <a:p>
            <a:pPr lvl="0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Contact deflection between connecting </a:t>
            </a:r>
          </a:p>
          <a:p>
            <a:pPr lvl="0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normal cable 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can be solved by using-</a:t>
            </a:r>
          </a:p>
          <a:p>
            <a:pPr lvl="0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Optocoupler circuit</a:t>
            </a:r>
          </a:p>
          <a:p>
            <a:pPr lvl="0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Making the circuit in PCB</a:t>
            </a:r>
          </a:p>
          <a:p>
            <a:pPr lvl="0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co-axial cable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C9AE4-7481-431D-80EA-D4033E25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3DCF-6842-4B19-A0EE-B63C5915A8B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758D9-C219-48BE-8FCA-5A60D08A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F5535-ED97-4A28-AF69-805E9469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DBBEF3-019B-40A8-9E17-229642FE63DC}"/>
              </a:ext>
            </a:extLst>
          </p:cNvPr>
          <p:cNvSpPr txBox="1">
            <a:spLocks/>
          </p:cNvSpPr>
          <p:nvPr/>
        </p:nvSpPr>
        <p:spPr>
          <a:xfrm>
            <a:off x="390939" y="4306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9BBD3E-8A1A-4D54-BB2A-C2D4B704A3DF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1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8E96-59B0-45D0-9A03-80F9FE547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82" y="1442482"/>
            <a:ext cx="8653562" cy="34014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and Computer Application for Signal Analysis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Assistive system for disable people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Monitoring Devices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Machine Interfacing (HMI)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61E1-121B-443E-9314-7AAFC217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D6553-20AD-41A5-B726-4781868B1AE7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430C-4B21-4964-99A8-46480407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FAFF-B28E-470F-B341-C822FD1C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43BEE6-F373-4A22-A94F-74B18A301BF8}"/>
              </a:ext>
            </a:extLst>
          </p:cNvPr>
          <p:cNvSpPr txBox="1">
            <a:spLocks/>
          </p:cNvSpPr>
          <p:nvPr/>
        </p:nvSpPr>
        <p:spPr>
          <a:xfrm>
            <a:off x="390939" y="430697"/>
            <a:ext cx="11582400" cy="85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Future Work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224E10-C6E2-462B-A021-21B31873F389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56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A01E-B4B0-4465-973C-35D8AF0C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8940" y="2532648"/>
            <a:ext cx="3954118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C7546-5B14-400B-9566-16FFA4FB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567C-FDB2-4AF2-A1DD-5E086F63AE0A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9407A-90AD-4434-AE7B-C97C380A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2020 2nd International Conference on Sustainable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CC2D-C82B-4703-A1F7-C3EE7B5B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D5A8B-E2D7-46AC-8041-C80037579FF6}" type="slidenum">
              <a:rPr lang="en-US" smtClean="0"/>
              <a:t>17</a:t>
            </a:fld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B4931D-6957-461F-A38B-AE4A3E75EAA8}"/>
              </a:ext>
            </a:extLst>
          </p:cNvPr>
          <p:cNvSpPr/>
          <p:nvPr/>
        </p:nvSpPr>
        <p:spPr>
          <a:xfrm>
            <a:off x="238539" y="278296"/>
            <a:ext cx="11582400" cy="5976040"/>
          </a:xfrm>
          <a:prstGeom prst="roundRect">
            <a:avLst>
              <a:gd name="adj" fmla="val 193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0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923</Words>
  <Application>Microsoft Office PowerPoint</Application>
  <PresentationFormat>Widescreen</PresentationFormat>
  <Paragraphs>214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Development of A Low-Cost Real-Time Bioelectrical Signal Acquisition Module</vt:lpstr>
      <vt:lpstr> Bioelectrical Signals</vt:lpstr>
      <vt:lpstr>  Importance of Acquisition  </vt:lpstr>
      <vt:lpstr> Motivation</vt:lpstr>
      <vt:lpstr> Objectives</vt:lpstr>
      <vt:lpstr>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Low Cost Electrooculography (EOG) Acquisition System</dc:title>
  <dc:creator>MD.SHAH KAMAL SAIMUM</dc:creator>
  <cp:lastModifiedBy>Md. Shah Kamal</cp:lastModifiedBy>
  <cp:revision>108</cp:revision>
  <dcterms:created xsi:type="dcterms:W3CDTF">2018-07-17T09:28:12Z</dcterms:created>
  <dcterms:modified xsi:type="dcterms:W3CDTF">2026-01-11T15:25:44Z</dcterms:modified>
</cp:coreProperties>
</file>